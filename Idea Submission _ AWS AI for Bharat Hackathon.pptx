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67" r:id="rId4"/>
    <p:sldId id="258" r:id="rId5"/>
    <p:sldId id="268" r:id="rId6"/>
    <p:sldId id="269" r:id="rId7"/>
    <p:sldId id="259" r:id="rId8"/>
    <p:sldId id="260" r:id="rId9"/>
    <p:sldId id="261" r:id="rId10"/>
    <p:sldId id="271" r:id="rId11"/>
    <p:sldId id="275" r:id="rId12"/>
    <p:sldId id="270" r:id="rId13"/>
    <p:sldId id="272" r:id="rId14"/>
    <p:sldId id="274" r:id="rId15"/>
    <p:sldId id="262" r:id="rId16"/>
    <p:sldId id="273" r:id="rId17"/>
    <p:sldId id="263" r:id="rId18"/>
    <p:sldId id="265" r:id="rId19"/>
    <p:sldId id="266" r:id="rId20"/>
  </p:sldIdLst>
  <p:sldSz cx="9144000" cy="5143500" type="screen16x9"/>
  <p:notesSz cx="6858000" cy="9144000"/>
  <p:embeddedFontLst>
    <p:embeddedFont>
      <p:font typeface="Manrope" panose="020B0604020202020204" charset="0"/>
      <p:regular r:id="rId22"/>
      <p:bold r:id="rId23"/>
    </p:embeddedFont>
    <p:embeddedFont>
      <p:font typeface="Manrope SemiBold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1A03CDF-7FD2-20C6-5ED3-C1A58122C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>
            <a:extLst>
              <a:ext uri="{FF2B5EF4-FFF2-40B4-BE49-F238E27FC236}">
                <a16:creationId xmlns:a16="http://schemas.microsoft.com/office/drawing/2014/main" id="{C748422F-9E5A-906D-4F93-46880CD8B0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>
            <a:extLst>
              <a:ext uri="{FF2B5EF4-FFF2-40B4-BE49-F238E27FC236}">
                <a16:creationId xmlns:a16="http://schemas.microsoft.com/office/drawing/2014/main" id="{2275AE60-8A7E-A674-793F-33E4AAEC0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660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8443CCF-9865-5368-60D1-55D9FDF33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>
            <a:extLst>
              <a:ext uri="{FF2B5EF4-FFF2-40B4-BE49-F238E27FC236}">
                <a16:creationId xmlns:a16="http://schemas.microsoft.com/office/drawing/2014/main" id="{C046ECBE-BC86-1AA5-BAC9-F51434054D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>
            <a:extLst>
              <a:ext uri="{FF2B5EF4-FFF2-40B4-BE49-F238E27FC236}">
                <a16:creationId xmlns:a16="http://schemas.microsoft.com/office/drawing/2014/main" id="{2233941E-937E-6474-A775-AEFE7C778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675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40DE7F2-7958-3004-4EFE-3554198D1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>
            <a:extLst>
              <a:ext uri="{FF2B5EF4-FFF2-40B4-BE49-F238E27FC236}">
                <a16:creationId xmlns:a16="http://schemas.microsoft.com/office/drawing/2014/main" id="{6AB4EA67-B3F4-3F86-7105-088AF8BBF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>
            <a:extLst>
              <a:ext uri="{FF2B5EF4-FFF2-40B4-BE49-F238E27FC236}">
                <a16:creationId xmlns:a16="http://schemas.microsoft.com/office/drawing/2014/main" id="{424801FF-4FCF-0451-33B6-70B6992590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2444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5BE3E45-B1BE-6A31-61D9-70CF8D92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>
            <a:extLst>
              <a:ext uri="{FF2B5EF4-FFF2-40B4-BE49-F238E27FC236}">
                <a16:creationId xmlns:a16="http://schemas.microsoft.com/office/drawing/2014/main" id="{3AC10111-1A84-4086-7F18-A86CF3921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>
            <a:extLst>
              <a:ext uri="{FF2B5EF4-FFF2-40B4-BE49-F238E27FC236}">
                <a16:creationId xmlns:a16="http://schemas.microsoft.com/office/drawing/2014/main" id="{C287E8D6-3046-785D-8582-D67264182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7901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8968BB7-FE57-54D5-82B5-3F939744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>
            <a:extLst>
              <a:ext uri="{FF2B5EF4-FFF2-40B4-BE49-F238E27FC236}">
                <a16:creationId xmlns:a16="http://schemas.microsoft.com/office/drawing/2014/main" id="{9C5DD381-522D-D856-6F76-EB9839512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>
            <a:extLst>
              <a:ext uri="{FF2B5EF4-FFF2-40B4-BE49-F238E27FC236}">
                <a16:creationId xmlns:a16="http://schemas.microsoft.com/office/drawing/2014/main" id="{318E03E5-D119-7FFF-0B73-FB5DB80BC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9962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7F38CF6-A9A4-D740-0A30-2E7938AF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>
            <a:extLst>
              <a:ext uri="{FF2B5EF4-FFF2-40B4-BE49-F238E27FC236}">
                <a16:creationId xmlns:a16="http://schemas.microsoft.com/office/drawing/2014/main" id="{0DBCF41A-69C2-244E-38FB-D4E4DBBCD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>
            <a:extLst>
              <a:ext uri="{FF2B5EF4-FFF2-40B4-BE49-F238E27FC236}">
                <a16:creationId xmlns:a16="http://schemas.microsoft.com/office/drawing/2014/main" id="{7569BE2C-FCCE-0D3A-7176-6B79DC559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859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3B09C9F-A683-1195-6790-A76F761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>
            <a:extLst>
              <a:ext uri="{FF2B5EF4-FFF2-40B4-BE49-F238E27FC236}">
                <a16:creationId xmlns:a16="http://schemas.microsoft.com/office/drawing/2014/main" id="{24EA136F-FA65-5722-7E68-DC8048C90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>
            <a:extLst>
              <a:ext uri="{FF2B5EF4-FFF2-40B4-BE49-F238E27FC236}">
                <a16:creationId xmlns:a16="http://schemas.microsoft.com/office/drawing/2014/main" id="{FF3AA48F-F23E-4835-1E8E-BBF56B78CA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1816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10A3FA4-D95B-02B8-1AA7-948512D5F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>
            <a:extLst>
              <a:ext uri="{FF2B5EF4-FFF2-40B4-BE49-F238E27FC236}">
                <a16:creationId xmlns:a16="http://schemas.microsoft.com/office/drawing/2014/main" id="{D52E77BE-399C-71D8-093B-54615438A3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>
            <a:extLst>
              <a:ext uri="{FF2B5EF4-FFF2-40B4-BE49-F238E27FC236}">
                <a16:creationId xmlns:a16="http://schemas.microsoft.com/office/drawing/2014/main" id="{A2537C0B-0A61-89F9-1F26-1237CAC63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516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E3DB293-B572-C1B7-4002-C32CB45C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>
            <a:extLst>
              <a:ext uri="{FF2B5EF4-FFF2-40B4-BE49-F238E27FC236}">
                <a16:creationId xmlns:a16="http://schemas.microsoft.com/office/drawing/2014/main" id="{7EC47068-32FE-20CD-2560-D39A0262D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>
            <a:extLst>
              <a:ext uri="{FF2B5EF4-FFF2-40B4-BE49-F238E27FC236}">
                <a16:creationId xmlns:a16="http://schemas.microsoft.com/office/drawing/2014/main" id="{097C5819-CAD3-8AE8-88D8-010913C024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693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IN" sz="1600" dirty="0">
                <a:latin typeface="Manrope SemiBold" panose="020B0604020202020204" charset="0"/>
              </a:rPr>
              <a:t>Spirit</a:t>
            </a:r>
            <a:endParaRPr sz="1600" dirty="0">
              <a:solidFill>
                <a:srgbClr val="202729"/>
              </a:solidFill>
              <a:latin typeface="Manrope SemiBold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>
                <a:solidFill>
                  <a:srgbClr val="202729"/>
                </a:solidFill>
                <a:latin typeface="Manrope SemiBold" panose="020B0604020202020204" charset="0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1600" dirty="0">
                <a:latin typeface="Manrope SemiBold" panose="020B0604020202020204" charset="0"/>
              </a:rPr>
              <a:t>Build an AI-powered solution that improves access to information, resources, or opportunities for communities and public systems.</a:t>
            </a:r>
            <a:endParaRPr sz="1600" dirty="0">
              <a:solidFill>
                <a:srgbClr val="202729"/>
              </a:solidFill>
              <a:latin typeface="Manrope SemiBold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 panose="020B0604020202020204" charset="0"/>
                <a:ea typeface="Manrope SemiBold"/>
                <a:cs typeface="Manrope SemiBold"/>
                <a:sym typeface="Manrope SemiBold"/>
              </a:rPr>
              <a:t>Team Leader Name : </a:t>
            </a:r>
            <a:r>
              <a:rPr lang="en-IN" sz="1600" dirty="0">
                <a:latin typeface="Manrope SemiBold" panose="020B0604020202020204" charset="0"/>
              </a:rPr>
              <a:t>Meghna Subramani</a:t>
            </a:r>
            <a:endParaRPr sz="1600" dirty="0">
              <a:solidFill>
                <a:srgbClr val="202729"/>
              </a:solidFill>
              <a:latin typeface="Manrope SemiBold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78619" y="770682"/>
            <a:ext cx="3688800" cy="8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614914-0138-57A2-ED2C-FFC4C887BA07}"/>
              </a:ext>
            </a:extLst>
          </p:cNvPr>
          <p:cNvSpPr txBox="1"/>
          <p:nvPr/>
        </p:nvSpPr>
        <p:spPr>
          <a:xfrm>
            <a:off x="378619" y="1570484"/>
            <a:ext cx="827246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anrope SemiBold" panose="020B0604020202020204" charset="0"/>
              </a:rPr>
              <a:t>The AI Emergency Help Assistant is a multilingual, voice-enabled, low-bandwidth AI system designed to support people during the first critical minutes of an emergency—before ambulances, police, or fire services arrive.</a:t>
            </a:r>
          </a:p>
          <a:p>
            <a:endParaRPr lang="en-US" sz="1600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anrope SemiBold" panose="020B0604020202020204" charset="0"/>
              </a:rPr>
              <a:t>It detects emergencies automatically, identifies the type of emergency, and provides step-by-step first-aid guidance, while also helping users contact nearby emergency services and SOS contacts.</a:t>
            </a:r>
          </a:p>
          <a:p>
            <a:endParaRPr lang="en-US" sz="1600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anrope SemiBold" panose="020B0604020202020204" charset="0"/>
              </a:rPr>
              <a:t>The solution is optimized for panic situations, rural or low-connectivity areas, and users with little medical knowledge.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760AE333-8E5F-FCAA-F873-47487BF5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>
            <a:extLst>
              <a:ext uri="{FF2B5EF4-FFF2-40B4-BE49-F238E27FC236}">
                <a16:creationId xmlns:a16="http://schemas.microsoft.com/office/drawing/2014/main" id="{DBF16A2A-6D3D-9DA6-3C10-0A668B4CD9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65B09AA7-30CE-8AFF-74E2-B6F7058BDB64}"/>
              </a:ext>
            </a:extLst>
          </p:cNvPr>
          <p:cNvSpPr txBox="1"/>
          <p:nvPr/>
        </p:nvSpPr>
        <p:spPr>
          <a:xfrm>
            <a:off x="378619" y="842119"/>
            <a:ext cx="3688800" cy="8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600" b="1" dirty="0">
                <a:latin typeface="Manrope SemiBold" panose="020B0604020202020204" charset="0"/>
              </a:rPr>
              <a:t>Problem Definition</a:t>
            </a:r>
            <a:endParaRPr sz="1600" b="1" dirty="0">
              <a:solidFill>
                <a:srgbClr val="202729"/>
              </a:solidFill>
              <a:latin typeface="Manrope SemiBold" panose="020B0604020202020204" charset="0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1F53C6-CD57-6477-E3C3-E3950376C77D}"/>
              </a:ext>
            </a:extLst>
          </p:cNvPr>
          <p:cNvSpPr txBox="1"/>
          <p:nvPr/>
        </p:nvSpPr>
        <p:spPr>
          <a:xfrm>
            <a:off x="435769" y="1556087"/>
            <a:ext cx="82724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Manrope SemiBold" panose="020B0604020202020204" charset="0"/>
              </a:rPr>
              <a:t>In real emergencies (collapse, accident, disaster):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People panic and forget basic first aid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Emergency numbers are not easily available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Users don’t know what details to tell responders</a:t>
            </a:r>
          </a:p>
          <a:p>
            <a:endParaRPr lang="en-US" dirty="0">
              <a:latin typeface="Manrope SemiBold" panose="020B0604020202020204" charset="0"/>
            </a:endParaRPr>
          </a:p>
          <a:p>
            <a:r>
              <a:rPr lang="en-US" dirty="0">
                <a:latin typeface="Manrope SemiBold" panose="020B0604020202020204" charset="0"/>
              </a:rPr>
              <a:t>Existing apps are text-heavy, English-centric, and require stable internet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0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04531" y="5206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2EC97B-8297-AB25-7A89-DAFB9D539694}"/>
              </a:ext>
            </a:extLst>
          </p:cNvPr>
          <p:cNvSpPr txBox="1"/>
          <p:nvPr/>
        </p:nvSpPr>
        <p:spPr>
          <a:xfrm>
            <a:off x="785813" y="1450181"/>
            <a:ext cx="3400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E2A809-718A-E196-AD22-319063452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489833"/>
              </p:ext>
            </p:extLst>
          </p:nvPr>
        </p:nvGraphicFramePr>
        <p:xfrm>
          <a:off x="1438275" y="1604069"/>
          <a:ext cx="6096000" cy="22250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9512152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05644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Existing Solutions</a:t>
                      </a:r>
                      <a:endParaRPr lang="en-IN" b="1" dirty="0">
                        <a:latin typeface="Manrope SemiBold" panose="020B0604020202020204" charset="0"/>
                      </a:endParaRPr>
                    </a:p>
                  </a:txBody>
                  <a:tcPr>
                    <a:solidFill>
                      <a:srgbClr val="C5D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AI Emergency Help Assistant</a:t>
                      </a:r>
                      <a:endParaRPr lang="en-IN" b="1" dirty="0">
                        <a:latin typeface="Manrope SemiBold" panose="020B0604020202020204" charset="0"/>
                      </a:endParaRPr>
                    </a:p>
                  </a:txBody>
                  <a:tcPr>
                    <a:solidFill>
                      <a:srgbClr val="C5D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44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Static emergency apps</a:t>
                      </a:r>
                      <a:endParaRPr lang="en-IN" dirty="0">
                        <a:latin typeface="Manrope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Dynamic AI-driven guidance</a:t>
                      </a:r>
                      <a:endParaRPr lang="en-IN" dirty="0">
                        <a:latin typeface="Manrope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59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General health chatbots</a:t>
                      </a:r>
                      <a:endParaRPr lang="en-IN" dirty="0">
                        <a:latin typeface="Manrope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Emergency-only intelligence</a:t>
                      </a:r>
                      <a:endParaRPr lang="en-IN" dirty="0">
                        <a:latin typeface="Manrope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0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English-first</a:t>
                      </a:r>
                      <a:endParaRPr lang="en-IN" dirty="0">
                        <a:latin typeface="Manrope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Local language + Voice</a:t>
                      </a:r>
                      <a:endParaRPr lang="en-IN" dirty="0">
                        <a:latin typeface="Manrope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08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Internet dependent</a:t>
                      </a:r>
                      <a:endParaRPr lang="en-IN" dirty="0">
                        <a:latin typeface="Manrope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Low-bandwidth / offline fallback</a:t>
                      </a:r>
                      <a:endParaRPr lang="en-IN" dirty="0">
                        <a:latin typeface="Manrope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445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 panic handling</a:t>
                      </a:r>
                      <a:endParaRPr lang="en-IN" dirty="0">
                        <a:latin typeface="Manrope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Step-by-step calm coaching</a:t>
                      </a:r>
                      <a:endParaRPr lang="en-IN" dirty="0">
                        <a:latin typeface="Manrope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7816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189563D-0DC1-9A35-0C7D-F761C731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>
            <a:extLst>
              <a:ext uri="{FF2B5EF4-FFF2-40B4-BE49-F238E27FC236}">
                <a16:creationId xmlns:a16="http://schemas.microsoft.com/office/drawing/2014/main" id="{02A33F34-B52E-E637-0708-6A9C45F5FA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DB1B305F-3983-5F47-8852-95393BE121D1}"/>
              </a:ext>
            </a:extLst>
          </p:cNvPr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B1F89A-3008-59A0-20A2-7BEB6C0792E5}"/>
              </a:ext>
            </a:extLst>
          </p:cNvPr>
          <p:cNvSpPr txBox="1"/>
          <p:nvPr/>
        </p:nvSpPr>
        <p:spPr>
          <a:xfrm>
            <a:off x="750093" y="1603579"/>
            <a:ext cx="62679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Detects emergency intent from voice/text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Classifies emergency type (medical, accident, disaster, threat)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Immediately switches to emergency mode (no long explanations)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Guides step-by-step actions (first aid, safety steps)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Fetches nearest emergency services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Prepares responder-ready information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Works offline if needed</a:t>
            </a:r>
          </a:p>
          <a:p>
            <a:endParaRPr lang="en-US" dirty="0">
              <a:latin typeface="Manrope SemiBold" panose="020B0604020202020204" charset="0"/>
            </a:endParaRPr>
          </a:p>
          <a:p>
            <a:r>
              <a:rPr lang="en-US" dirty="0">
                <a:latin typeface="Manrope SemiBold" panose="020B0604020202020204" charset="0"/>
              </a:rPr>
              <a:t>This reduces panic, saves time, and improves survival probability.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09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E55063D-E280-733D-CF04-51718827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>
            <a:extLst>
              <a:ext uri="{FF2B5EF4-FFF2-40B4-BE49-F238E27FC236}">
                <a16:creationId xmlns:a16="http://schemas.microsoft.com/office/drawing/2014/main" id="{3A6D9AC8-7137-1205-007C-4D1DCECF89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06DE0953-5C98-6395-0C16-5A1969E0DDCA}"/>
              </a:ext>
            </a:extLst>
          </p:cNvPr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>
              <a:lnSpc>
                <a:spcPct val="115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USP(</a:t>
            </a:r>
            <a:r>
              <a:rPr lang="en-IN" sz="1600" dirty="0">
                <a:latin typeface="Manrope SemiBold" panose="020B0604020202020204" charset="0"/>
              </a:rPr>
              <a:t>Unique Selling Proposition</a:t>
            </a:r>
            <a:r>
              <a:rPr lang="en-IN" sz="1600" dirty="0"/>
              <a:t>)</a:t>
            </a: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of the proposed solution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D80625-2864-9835-0B1A-73F20D77DC7C}"/>
              </a:ext>
            </a:extLst>
          </p:cNvPr>
          <p:cNvSpPr txBox="1"/>
          <p:nvPr/>
        </p:nvSpPr>
        <p:spPr>
          <a:xfrm>
            <a:off x="890016" y="2054147"/>
            <a:ext cx="7136606" cy="1674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Emergency-first AI (not a general chatbot)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Voice-guided first aid coaching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Local language + cultural context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Works in low connectivity environments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Tells users </a:t>
            </a:r>
            <a:r>
              <a:rPr lang="en-US" i="1" dirty="0">
                <a:latin typeface="Manrope SemiBold" panose="020B0604020202020204" charset="0"/>
              </a:rPr>
              <a:t>what to say</a:t>
            </a:r>
            <a:r>
              <a:rPr lang="en-US" dirty="0">
                <a:latin typeface="Manrope SemiBold" panose="020B0604020202020204" charset="0"/>
              </a:rPr>
              <a:t> to emergency responder</a:t>
            </a:r>
            <a:endParaRPr lang="en-IN" dirty="0">
              <a:latin typeface="Manrope SemiBold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84B33-5E7C-00B9-43E3-7494BFA9EC2F}"/>
              </a:ext>
            </a:extLst>
          </p:cNvPr>
          <p:cNvSpPr txBox="1"/>
          <p:nvPr/>
        </p:nvSpPr>
        <p:spPr>
          <a:xfrm>
            <a:off x="890016" y="1536192"/>
            <a:ext cx="68397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anrope SemiBold" panose="020B0604020202020204" charset="0"/>
              </a:rPr>
              <a:t>“Life-saving guidance in the first 5 minutes, for anyone, anywhere.”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32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7369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2ACCA-3B46-2061-B4EE-CC7FD23AAB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52" b="12964"/>
          <a:stretch>
            <a:fillRect/>
          </a:stretch>
        </p:blipFill>
        <p:spPr>
          <a:xfrm>
            <a:off x="953443" y="1407319"/>
            <a:ext cx="6778286" cy="3438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 – AI Emergency Assistant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07A96-180C-6598-1C19-91912AE1A2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749" r="1489" b="9974"/>
          <a:stretch>
            <a:fillRect/>
          </a:stretch>
        </p:blipFill>
        <p:spPr>
          <a:xfrm>
            <a:off x="1642323" y="1402179"/>
            <a:ext cx="6201177" cy="33269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8842" y="636938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D74B98D-7F8E-CEF1-1D11-54EB210196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DA71E-3CCE-4135-7666-B7BFAA7B87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61"/>
          <a:stretch>
            <a:fillRect/>
          </a:stretch>
        </p:blipFill>
        <p:spPr>
          <a:xfrm>
            <a:off x="2570808" y="1252357"/>
            <a:ext cx="1780368" cy="37100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FC724E-4891-9EBB-7182-6A98F3AED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173" y="1247877"/>
            <a:ext cx="1780368" cy="3714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19F1CA-982E-A555-9C18-1C987E6A0A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560" b="1215"/>
          <a:stretch>
            <a:fillRect/>
          </a:stretch>
        </p:blipFill>
        <p:spPr>
          <a:xfrm>
            <a:off x="6975733" y="1247717"/>
            <a:ext cx="1749819" cy="37147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D98CB3-35AB-DADD-00E9-3C373E03055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561" b="3784"/>
          <a:stretch>
            <a:fillRect/>
          </a:stretch>
        </p:blipFill>
        <p:spPr>
          <a:xfrm>
            <a:off x="4710723" y="1247717"/>
            <a:ext cx="1905463" cy="3714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156AA55-2412-4194-0FB6-E00574341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>
            <a:extLst>
              <a:ext uri="{FF2B5EF4-FFF2-40B4-BE49-F238E27FC236}">
                <a16:creationId xmlns:a16="http://schemas.microsoft.com/office/drawing/2014/main" id="{382248A4-BF88-A96C-3F99-C1500FC8AE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>
            <a:extLst>
              <a:ext uri="{FF2B5EF4-FFF2-40B4-BE49-F238E27FC236}">
                <a16:creationId xmlns:a16="http://schemas.microsoft.com/office/drawing/2014/main" id="{BD20E863-3160-C97D-16D1-E26DD5846A41}"/>
              </a:ext>
            </a:extLst>
          </p:cNvPr>
          <p:cNvSpPr txBox="1"/>
          <p:nvPr/>
        </p:nvSpPr>
        <p:spPr>
          <a:xfrm>
            <a:off x="318843" y="584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0B92AF7-DB60-A5E9-7606-EC91A516CB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717BB9-F6BD-D4CF-0BFA-0578A8EFE1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495784" y="1147921"/>
            <a:ext cx="2152431" cy="37728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3125A5-42E8-FAA8-A669-D9DDACFF2D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562"/>
          <a:stretch>
            <a:fillRect/>
          </a:stretch>
        </p:blipFill>
        <p:spPr>
          <a:xfrm>
            <a:off x="592859" y="1120318"/>
            <a:ext cx="2152431" cy="38004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06366C-E941-5265-6164-8FA4857EEC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643" b="26666"/>
          <a:stretch>
            <a:fillRect/>
          </a:stretch>
        </p:blipFill>
        <p:spPr>
          <a:xfrm>
            <a:off x="6398710" y="1155583"/>
            <a:ext cx="2152431" cy="376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25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14F9B003-3374-8C10-CD62-E09A47269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>
            <a:extLst>
              <a:ext uri="{FF2B5EF4-FFF2-40B4-BE49-F238E27FC236}">
                <a16:creationId xmlns:a16="http://schemas.microsoft.com/office/drawing/2014/main" id="{D1917ACB-D3E5-B037-24E3-E8D5FADB7B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>
            <a:extLst>
              <a:ext uri="{FF2B5EF4-FFF2-40B4-BE49-F238E27FC236}">
                <a16:creationId xmlns:a16="http://schemas.microsoft.com/office/drawing/2014/main" id="{5730BE02-5B42-4553-3DA2-DFA57ABE575B}"/>
              </a:ext>
            </a:extLst>
          </p:cNvPr>
          <p:cNvSpPr txBox="1"/>
          <p:nvPr/>
        </p:nvSpPr>
        <p:spPr>
          <a:xfrm>
            <a:off x="318843" y="584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99739FE-140A-15CB-EC39-98BDFF1337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E5C2AB-167F-1AD2-42A7-A4B53F77B0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40" b="23170"/>
          <a:stretch>
            <a:fillRect/>
          </a:stretch>
        </p:blipFill>
        <p:spPr>
          <a:xfrm>
            <a:off x="3681925" y="1147977"/>
            <a:ext cx="2084949" cy="37835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FF56F6-CFD5-34C9-A6C4-BF29A0DAC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89" y="1277609"/>
            <a:ext cx="2709665" cy="3251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7F34C2-D391-AA18-59A4-F52ABD5893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441"/>
          <a:stretch>
            <a:fillRect/>
          </a:stretch>
        </p:blipFill>
        <p:spPr>
          <a:xfrm>
            <a:off x="6252351" y="1891903"/>
            <a:ext cx="2572806" cy="166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74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77859C5F-9CA1-75B8-8CF6-366D7C4E9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>
            <a:extLst>
              <a:ext uri="{FF2B5EF4-FFF2-40B4-BE49-F238E27FC236}">
                <a16:creationId xmlns:a16="http://schemas.microsoft.com/office/drawing/2014/main" id="{E6156D55-4A97-5DE2-9A38-0124E54A71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>
            <a:extLst>
              <a:ext uri="{FF2B5EF4-FFF2-40B4-BE49-F238E27FC236}">
                <a16:creationId xmlns:a16="http://schemas.microsoft.com/office/drawing/2014/main" id="{0B291433-06C0-0D75-70A7-DAF3322F3704}"/>
              </a:ext>
            </a:extLst>
          </p:cNvPr>
          <p:cNvSpPr txBox="1"/>
          <p:nvPr/>
        </p:nvSpPr>
        <p:spPr>
          <a:xfrm>
            <a:off x="297412" y="7369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F62653-C4CD-BC60-E631-262407A942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866" l="7123" r="99335">
                        <a14:foregroundMark x1="59682" y1="3765" x2="65717" y2="5164"/>
                        <a14:foregroundMark x1="65717" y1="5164" x2="64655" y2="3921"/>
                        <a14:foregroundMark x1="64957" y1="9068" x2="64103" y2="14232"/>
                        <a14:foregroundMark x1="54204" y1="3321" x2="53181" y2="23174"/>
                        <a14:foregroundMark x1="53181" y1="23174" x2="45964" y2="37028"/>
                        <a14:foregroundMark x1="45964" y1="37028" x2="48148" y2="56549"/>
                        <a14:foregroundMark x1="48148" y1="56549" x2="38272" y2="68010"/>
                        <a14:foregroundMark x1="38272" y1="68010" x2="24786" y2="70655"/>
                        <a14:foregroundMark x1="24786" y1="70655" x2="4084" y2="86146"/>
                        <a14:foregroundMark x1="4084" y1="86146" x2="15005" y2="95214"/>
                        <a14:foregroundMark x1="15005" y1="95214" x2="25912" y2="96906"/>
                        <a14:foregroundMark x1="80941" y1="95809" x2="96771" y2="91688"/>
                        <a14:foregroundMark x1="96771" y1="91688" x2="93352" y2="59446"/>
                        <a14:foregroundMark x1="93352" y1="59446" x2="76163" y2="3778"/>
                        <a14:foregroundMark x1="76163" y1="3778" x2="72002" y2="2442"/>
                        <a14:foregroundMark x1="61538" y1="38161" x2="60399" y2="19773"/>
                        <a14:foregroundMark x1="60399" y1="19773" x2="58784" y2="53904"/>
                        <a14:foregroundMark x1="58784" y1="53904" x2="64292" y2="25315"/>
                        <a14:foregroundMark x1="64292" y1="25315" x2="72840" y2="27582"/>
                        <a14:foregroundMark x1="72840" y1="27582" x2="79392" y2="37154"/>
                        <a14:foregroundMark x1="79392" y1="37154" x2="82621" y2="50252"/>
                        <a14:foregroundMark x1="68281" y1="17254" x2="73314" y2="5668"/>
                        <a14:foregroundMark x1="73314" y1="5668" x2="64862" y2="4912"/>
                        <a14:foregroundMark x1="64862" y1="4912" x2="54701" y2="13098"/>
                        <a14:foregroundMark x1="54701" y1="13098" x2="63628" y2="7809"/>
                        <a14:foregroundMark x1="63628" y1="7809" x2="66667" y2="12091"/>
                        <a14:foregroundMark x1="84710" y1="42317" x2="72460" y2="36272"/>
                        <a14:foregroundMark x1="72460" y1="36272" x2="65622" y2="27960"/>
                        <a14:foregroundMark x1="65622" y1="27960" x2="68471" y2="25945"/>
                        <a14:foregroundMark x1="71890" y1="20025" x2="67901" y2="22166"/>
                        <a14:foregroundMark x1="78253" y1="60831" x2="72745" y2="49622"/>
                        <a14:foregroundMark x1="72745" y1="49622" x2="77873" y2="63224"/>
                        <a14:foregroundMark x1="77873" y1="63224" x2="74929" y2="76574"/>
                        <a14:foregroundMark x1="74929" y1="76574" x2="62298" y2="64987"/>
                        <a14:foregroundMark x1="62298" y1="64987" x2="54321" y2="71788"/>
                        <a14:foregroundMark x1="54321" y1="71788" x2="65242" y2="74055"/>
                        <a14:foregroundMark x1="65242" y1="74055" x2="40836" y2="76448"/>
                        <a14:foregroundMark x1="40836" y1="76448" x2="66572" y2="70277"/>
                        <a14:foregroundMark x1="66572" y1="70277" x2="35233" y2="80479"/>
                        <a14:foregroundMark x1="35233" y1="80479" x2="61538" y2="66877"/>
                        <a14:foregroundMark x1="61538" y1="66877" x2="21747" y2="77834"/>
                        <a14:foregroundMark x1="21747" y1="77834" x2="50712" y2="78967"/>
                        <a14:foregroundMark x1="50712" y1="78967" x2="18613" y2="84257"/>
                        <a14:foregroundMark x1="18613" y1="84257" x2="35992" y2="83627"/>
                        <a14:foregroundMark x1="35992" y1="83627" x2="21273" y2="92065"/>
                        <a14:foregroundMark x1="21273" y1="92065" x2="39126" y2="72292"/>
                        <a14:foregroundMark x1="39126" y1="72292" x2="27540" y2="78463"/>
                        <a14:foregroundMark x1="27540" y1="78463" x2="33618" y2="63854"/>
                        <a14:foregroundMark x1="33618" y1="63854" x2="48433" y2="72040"/>
                        <a14:foregroundMark x1="48433" y1="72040" x2="25071" y2="81864"/>
                        <a14:foregroundMark x1="25071" y1="81864" x2="39506" y2="71788"/>
                        <a14:foregroundMark x1="39506" y1="71788" x2="39981" y2="70277"/>
                        <a14:foregroundMark x1="35518" y1="79975" x2="18234" y2="91310"/>
                        <a14:foregroundMark x1="18234" y1="91310" x2="28870" y2="91562"/>
                        <a14:foregroundMark x1="28870" y1="91562" x2="37417" y2="91184"/>
                        <a14:foregroundMark x1="37417" y1="91184" x2="72650" y2="80730"/>
                        <a14:foregroundMark x1="72650" y1="80730" x2="80817" y2="83753"/>
                        <a14:foregroundMark x1="80817" y1="83753" x2="91358" y2="78463"/>
                        <a14:foregroundMark x1="91358" y1="78463" x2="98575" y2="79345"/>
                        <a14:foregroundMark x1="94017" y1="80982" x2="53846" y2="19144"/>
                        <a14:foregroundMark x1="53846" y1="19144" x2="63533" y2="15113"/>
                        <a14:foregroundMark x1="63533" y1="15113" x2="70750" y2="27078"/>
                        <a14:foregroundMark x1="70750" y1="27078" x2="65622" y2="38413"/>
                        <a14:foregroundMark x1="65622" y1="38413" x2="61918" y2="26196"/>
                        <a14:foregroundMark x1="61918" y1="26196" x2="66002" y2="44710"/>
                        <a14:foregroundMark x1="66002" y1="44710" x2="52327" y2="58438"/>
                        <a14:foregroundMark x1="52327" y1="58438" x2="64482" y2="53526"/>
                        <a14:foregroundMark x1="64482" y1="53526" x2="55651" y2="85516"/>
                        <a14:foregroundMark x1="55651" y1="85516" x2="56125" y2="87406"/>
                        <a14:foregroundMark x1="76543" y1="57179" x2="72175" y2="40302"/>
                        <a14:foregroundMark x1="72175" y1="40302" x2="78727" y2="57053"/>
                        <a14:foregroundMark x1="78727" y1="57053" x2="68661" y2="55919"/>
                        <a14:foregroundMark x1="68661" y1="55919" x2="70085" y2="80730"/>
                        <a14:foregroundMark x1="70085" y1="80730" x2="48289" y2="95732"/>
                        <a14:foregroundMark x1="33631" y1="96558" x2="32479" y2="90554"/>
                        <a14:foregroundMark x1="25451" y1="92821" x2="15575" y2="93451"/>
                        <a14:foregroundMark x1="15575" y1="93451" x2="8927" y2="80856"/>
                        <a14:foregroundMark x1="8927" y1="80856" x2="13200" y2="94332"/>
                        <a14:foregroundMark x1="13200" y1="94332" x2="13105" y2="94081"/>
                        <a14:foregroundMark x1="24596" y1="89924" x2="35518" y2="88287"/>
                        <a14:foregroundMark x1="35518" y1="88287" x2="40266" y2="83753"/>
                        <a14:foregroundMark x1="77018" y1="90806" x2="52517" y2="93955"/>
                        <a14:foregroundMark x1="52517" y1="93955" x2="57740" y2="80982"/>
                        <a14:foregroundMark x1="57740" y1="80982" x2="69516" y2="79219"/>
                        <a14:foregroundMark x1="69516" y1="79219" x2="77208" y2="88917"/>
                        <a14:foregroundMark x1="77208" y1="88917" x2="85945" y2="91688"/>
                        <a14:foregroundMark x1="85945" y1="91688" x2="74454" y2="90554"/>
                        <a14:foregroundMark x1="74454" y1="90554" x2="89174" y2="79597"/>
                        <a14:foregroundMark x1="89174" y1="79597" x2="85850" y2="81612"/>
                        <a14:foregroundMark x1="76828" y1="81108" x2="76638" y2="82746"/>
                        <a14:foregroundMark x1="79962" y1="71914" x2="78063" y2="84257"/>
                        <a14:foregroundMark x1="78063" y1="84257" x2="79202" y2="76071"/>
                        <a14:foregroundMark x1="81956" y1="80856" x2="89269" y2="74181"/>
                        <a14:foregroundMark x1="89269" y1="74181" x2="89744" y2="77204"/>
                        <a14:foregroundMark x1="89649" y1="43073" x2="74264" y2="34257"/>
                        <a14:foregroundMark x1="74264" y1="34257" x2="80532" y2="43829"/>
                        <a14:foregroundMark x1="80532" y1="43829" x2="81007" y2="56423"/>
                        <a14:foregroundMark x1="81007" y1="56423" x2="82906" y2="61335"/>
                        <a14:foregroundMark x1="78253" y1="18136" x2="77968" y2="30101"/>
                        <a14:foregroundMark x1="77968" y1="30101" x2="81671" y2="35013"/>
                        <a14:foregroundMark x1="59544" y1="31990" x2="51662" y2="44836"/>
                        <a14:foregroundMark x1="51662" y1="44836" x2="54701" y2="32872"/>
                        <a14:foregroundMark x1="54701" y1="32872" x2="52422" y2="48866"/>
                        <a14:foregroundMark x1="52422" y1="48866" x2="50522" y2="34635"/>
                        <a14:foregroundMark x1="50522" y1="34635" x2="46914" y2="57053"/>
                        <a14:foregroundMark x1="46914" y1="57053" x2="47578" y2="56675"/>
                        <a14:foregroundMark x1="12441" y1="95088" x2="10343" y2="96859"/>
                        <a14:foregroundMark x1="7475" y1="97598" x2="6173" y2="97229"/>
                        <a14:foregroundMark x1="6173" y1="97229" x2="7577" y2="97395"/>
                        <a14:foregroundMark x1="7407" y1="94710" x2="10921" y2="94458"/>
                        <a14:foregroundMark x1="8642" y1="95718" x2="9117" y2="89547"/>
                        <a14:foregroundMark x1="96296" y1="79219" x2="96866" y2="82872"/>
                        <a14:foregroundMark x1="98765" y1="85013" x2="99525" y2="75819"/>
                        <a14:foregroundMark x1="72175" y1="3401" x2="71802" y2="2869"/>
                        <a14:foregroundMark x1="61728" y1="19270" x2="68281" y2="17128"/>
                        <a14:foregroundMark x1="55840" y1="3023" x2="63533" y2="2393"/>
                        <a14:foregroundMark x1="63533" y1="2393" x2="64957" y2="2393"/>
                        <a14:foregroundMark x1="65052" y1="2393" x2="73029" y2="2897"/>
                        <a14:foregroundMark x1="72555" y1="2771" x2="63818" y2="2897"/>
                        <a14:foregroundMark x1="63818" y1="2897" x2="68281" y2="2897"/>
                        <a14:foregroundMark x1="60019" y1="2393" x2="68186" y2="2897"/>
                        <a14:foregroundMark x1="69516" y1="3401" x2="59069" y2="2393"/>
                        <a14:foregroundMark x1="54796" y1="3652" x2="72270" y2="2897"/>
                        <a14:foregroundMark x1="72270" y1="2897" x2="55271" y2="2141"/>
                        <a14:foregroundMark x1="55271" y1="2141" x2="54891" y2="2393"/>
                        <a14:foregroundMark x1="58879" y1="2393" x2="69041" y2="3149"/>
                        <a14:foregroundMark x1="69041" y1="3149" x2="65242" y2="2771"/>
                        <a14:foregroundMark x1="62678" y1="2897" x2="71700" y2="3149"/>
                        <a14:foregroundMark x1="71700" y1="3149" x2="59924" y2="1889"/>
                        <a14:foregroundMark x1="65432" y1="2015" x2="55935" y2="2771"/>
                        <a14:foregroundMark x1="69136" y1="2267" x2="71795" y2="756"/>
                        <a14:foregroundMark x1="72745" y1="2519" x2="71700" y2="630"/>
                        <a14:foregroundMark x1="71890" y1="756" x2="73694" y2="3023"/>
                        <a14:foregroundMark x1="16714" y1="96474" x2="12441" y2="96474"/>
                        <a14:foregroundMark x1="26116" y1="95340" x2="33523" y2="95214"/>
                        <a14:foregroundMark x1="33333" y1="96348" x2="33713" y2="96348"/>
                        <a14:foregroundMark x1="32479" y1="96599" x2="40551" y2="96474"/>
                        <a14:foregroundMark x1="40551" y1="96474" x2="40551" y2="96474"/>
                        <a14:foregroundMark x1="41595" y1="95970" x2="27635" y2="95718"/>
                        <a14:foregroundMark x1="30769" y1="95844" x2="23552" y2="96222"/>
                        <a14:foregroundMark x1="40456" y1="96977" x2="41880" y2="95844"/>
                        <a14:foregroundMark x1="41880" y1="95340" x2="41880" y2="97103"/>
                        <a14:foregroundMark x1="42260" y1="92443" x2="44444" y2="93451"/>
                        <a14:foregroundMark x1="62013" y1="95340" x2="44255" y2="95088"/>
                        <a14:foregroundMark x1="44824" y1="95340" x2="52991" y2="95844"/>
                        <a14:foregroundMark x1="52991" y1="95844" x2="60589" y2="94836"/>
                        <a14:foregroundMark x1="60589" y1="94836" x2="60589" y2="94836"/>
                        <a14:foregroundMark x1="61464" y1="96478" x2="56469" y2="96514"/>
                        <a14:foregroundMark x1="96391" y1="85768" x2="97056" y2="84131"/>
                        <a14:foregroundMark x1="47578" y1="95466" x2="44065" y2="94836"/>
                        <a14:foregroundMark x1="45109" y1="95466" x2="47673" y2="95844"/>
                        <a14:foregroundMark x1="54321" y1="95718" x2="58784" y2="95088"/>
                        <a14:foregroundMark x1="61633" y1="95970" x2="61443" y2="92317"/>
                        <a14:foregroundMark x1="61633" y1="94207" x2="61918" y2="92947"/>
                        <a14:foregroundMark x1="62013" y1="95214" x2="62108" y2="92821"/>
                        <a14:foregroundMark x1="61633" y1="95844" x2="62013" y2="95214"/>
                        <a14:foregroundMark x1="56030" y1="95970" x2="56030" y2="95970"/>
                        <a14:backgroundMark x1="53181" y1="1385" x2="54036" y2="3149"/>
                        <a14:backgroundMark x1="6838" y1="98866" x2="15005" y2="99622"/>
                        <a14:backgroundMark x1="40769" y1="98460" x2="42925" y2="98363"/>
                        <a14:backgroundMark x1="15005" y1="99622" x2="39913" y2="98499"/>
                        <a14:backgroundMark x1="42925" y1="98363" x2="45481" y2="98431"/>
                        <a14:backgroundMark x1="45014" y1="98111" x2="45261" y2="98099"/>
                        <a14:backgroundMark x1="59126" y1="98759" x2="62583" y2="99874"/>
                        <a14:backgroundMark x1="81576" y1="97103" x2="62203" y2="97985"/>
                        <a14:backgroundMark x1="59449" y1="98866" x2="44634" y2="982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1582" y="607219"/>
            <a:ext cx="6320836" cy="453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38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3756BC6-4848-2A8B-80FE-0D00B0CA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>
            <a:extLst>
              <a:ext uri="{FF2B5EF4-FFF2-40B4-BE49-F238E27FC236}">
                <a16:creationId xmlns:a16="http://schemas.microsoft.com/office/drawing/2014/main" id="{17D1ADF8-DEB3-954C-FAA8-EC6493E257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>
            <a:extLst>
              <a:ext uri="{FF2B5EF4-FFF2-40B4-BE49-F238E27FC236}">
                <a16:creationId xmlns:a16="http://schemas.microsoft.com/office/drawing/2014/main" id="{3EB85692-1C75-922B-169D-23D52C130A6E}"/>
              </a:ext>
            </a:extLst>
          </p:cNvPr>
          <p:cNvSpPr txBox="1"/>
          <p:nvPr/>
        </p:nvSpPr>
        <p:spPr>
          <a:xfrm>
            <a:off x="183112" y="736950"/>
            <a:ext cx="1290771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Sequence diagram: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CB7CC-BC0F-A924-DC79-23B132C5F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032" y="595057"/>
            <a:ext cx="7681820" cy="442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81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B874873-969D-D154-A539-693AC161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>
            <a:extLst>
              <a:ext uri="{FF2B5EF4-FFF2-40B4-BE49-F238E27FC236}">
                <a16:creationId xmlns:a16="http://schemas.microsoft.com/office/drawing/2014/main" id="{F04B54EA-4E3A-18C7-C52A-A15F60D22C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>
            <a:extLst>
              <a:ext uri="{FF2B5EF4-FFF2-40B4-BE49-F238E27FC236}">
                <a16:creationId xmlns:a16="http://schemas.microsoft.com/office/drawing/2014/main" id="{167D137A-7B26-F620-3ED9-9BC1600D0B5D}"/>
              </a:ext>
            </a:extLst>
          </p:cNvPr>
          <p:cNvSpPr txBox="1"/>
          <p:nvPr/>
        </p:nvSpPr>
        <p:spPr>
          <a:xfrm>
            <a:off x="183112" y="7369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FlowChart</a:t>
            </a: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diagram: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653FC5-5D2C-F202-911D-612DAC026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088" y="1105426"/>
            <a:ext cx="6138240" cy="366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3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04556" y="663525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US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Target Users</a:t>
            </a:r>
            <a:endParaRPr lang="en-US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8876F-DCE7-9921-DD0A-BD2FD57F18F0}"/>
              </a:ext>
            </a:extLst>
          </p:cNvPr>
          <p:cNvSpPr txBox="1"/>
          <p:nvPr/>
        </p:nvSpPr>
        <p:spPr>
          <a:xfrm>
            <a:off x="304556" y="1229879"/>
            <a:ext cx="4722019" cy="1674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nrope SemiBold" panose="020B0604020202020204" charset="0"/>
              </a:rPr>
              <a:t>Rural &amp; semi-urban populations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nrope SemiBold" panose="020B0604020202020204" charset="0"/>
              </a:rPr>
              <a:t>Elderly caregivers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nrope SemiBold" panose="020B0604020202020204" charset="0"/>
              </a:rPr>
              <a:t>Factory &amp; construction workers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nrope SemiBold" panose="020B0604020202020204" charset="0"/>
              </a:rPr>
              <a:t>Women &amp; children in safety threats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nrope SemiBold" panose="020B0604020202020204" charset="0"/>
              </a:rPr>
              <a:t>Disaster-prone communities</a:t>
            </a:r>
            <a:endParaRPr lang="en-IN" dirty="0">
              <a:latin typeface="Manrope SemiBold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77927-9B92-2957-47C0-EE63E789548A}"/>
              </a:ext>
            </a:extLst>
          </p:cNvPr>
          <p:cNvSpPr txBox="1"/>
          <p:nvPr/>
        </p:nvSpPr>
        <p:spPr>
          <a:xfrm>
            <a:off x="4577005" y="739081"/>
            <a:ext cx="4174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>
                <a:latin typeface="Manrope SemiBold" panose="020B0604020202020204" charset="0"/>
              </a:rPr>
              <a:t>Example User 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91EFBF-4C2D-623A-AD9E-8005F9965881}"/>
              </a:ext>
            </a:extLst>
          </p:cNvPr>
          <p:cNvSpPr txBox="1"/>
          <p:nvPr/>
        </p:nvSpPr>
        <p:spPr>
          <a:xfrm>
            <a:off x="4572000" y="1204299"/>
            <a:ext cx="495941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Manrope SemiBold" panose="020B0604020202020204" charset="0"/>
              </a:rPr>
              <a:t>User:</a:t>
            </a:r>
            <a:r>
              <a:rPr lang="en-US" dirty="0">
                <a:latin typeface="Manrope SemiBold" panose="020B0604020202020204" charset="0"/>
              </a:rPr>
              <a:t> “My father collapsed”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anrope SemiBold" panose="020B0604020202020204" charset="0"/>
              </a:rPr>
              <a:t>AI Flow: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Detects medical emergency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Asks: “Is he conscious?”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Guides CPR or recovery position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Shows ambulance &amp; hospital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 SemiBold" panose="020B0604020202020204" charset="0"/>
              </a:rPr>
              <a:t>Generates info card:</a:t>
            </a:r>
          </a:p>
          <a:p>
            <a:pPr marL="34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Age</a:t>
            </a:r>
          </a:p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Symptoms</a:t>
            </a:r>
          </a:p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anrope SemiBold" panose="020B0604020202020204" charset="0"/>
              </a:rPr>
              <a:t>Time of incident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EE46BED0-DA83-D7BA-0F20-68C0DC0E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>
            <a:extLst>
              <a:ext uri="{FF2B5EF4-FFF2-40B4-BE49-F238E27FC236}">
                <a16:creationId xmlns:a16="http://schemas.microsoft.com/office/drawing/2014/main" id="{87A9E4FA-88D9-8A52-C1C9-1A07CE0858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>
            <a:extLst>
              <a:ext uri="{FF2B5EF4-FFF2-40B4-BE49-F238E27FC236}">
                <a16:creationId xmlns:a16="http://schemas.microsoft.com/office/drawing/2014/main" id="{735F35FA-FC4A-1A8D-5E52-C36DF8C18545}"/>
              </a:ext>
            </a:extLst>
          </p:cNvPr>
          <p:cNvSpPr txBox="1"/>
          <p:nvPr/>
        </p:nvSpPr>
        <p:spPr>
          <a:xfrm>
            <a:off x="183112" y="7369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Sequence diagram: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666159-2D7F-8CDE-F35C-E8728A455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12" y="1360857"/>
            <a:ext cx="4250736" cy="27023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E35DE-85D2-102F-B3AD-2361C7A47BD3}"/>
              </a:ext>
            </a:extLst>
          </p:cNvPr>
          <p:cNvSpPr txBox="1"/>
          <p:nvPr/>
        </p:nvSpPr>
        <p:spPr>
          <a:xfrm>
            <a:off x="5619399" y="791470"/>
            <a:ext cx="227862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Activity diagram:</a:t>
            </a:r>
            <a:endParaRPr lang="en-GB" sz="17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3C35B7-3B5C-F235-5FF4-FB5926EE9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688" y="1415377"/>
            <a:ext cx="4542508" cy="264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85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2D99AF-47AC-BD42-C1BA-63B0B86182D5}"/>
              </a:ext>
            </a:extLst>
          </p:cNvPr>
          <p:cNvSpPr txBox="1"/>
          <p:nvPr/>
        </p:nvSpPr>
        <p:spPr>
          <a:xfrm>
            <a:off x="568521" y="1640050"/>
            <a:ext cx="3389117" cy="2996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Manrope SemiBold" panose="020B0604020202020204" charset="0"/>
              </a:rPr>
              <a:t>Frontend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Flutter / React Native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Android SDK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Accessibility UI Components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Manrope SemiBold" panose="020B0604020202020204" charset="0"/>
              </a:rPr>
              <a:t>Backend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Python (Fast API)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Emergency Rules Engine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Vector DB for protocols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EB2B3-7DF0-5EA4-C689-2D433AF9DAED}"/>
              </a:ext>
            </a:extLst>
          </p:cNvPr>
          <p:cNvSpPr txBox="1"/>
          <p:nvPr/>
        </p:nvSpPr>
        <p:spPr>
          <a:xfrm>
            <a:off x="4390444" y="1640050"/>
            <a:ext cx="46464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Manrope SemiBold" panose="020B0604020202020204" charset="0"/>
              </a:rPr>
              <a:t>AI &amp; ML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NLP intent classification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Speech-to-text(Google / Whisper)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Text-to-speech(Festival / Azure / Google)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anrope" panose="020B0604020202020204" charset="0"/>
              </a:rPr>
              <a:t>Rule-based + ML hybrid for first aid logic</a:t>
            </a:r>
            <a:endParaRPr lang="en-IN" dirty="0">
              <a:latin typeface="Manrope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Manrope SemiBold" panose="020B0604020202020204" charset="0"/>
              </a:rPr>
              <a:t>APIs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Maps &amp; location services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Manrope" panose="020B0604020202020204" charset="0"/>
              </a:rPr>
              <a:t>Emergency contact database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407194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Real-World Impact: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C817BF-CB34-6E14-72D0-229A5BF2E1DB}"/>
              </a:ext>
            </a:extLst>
          </p:cNvPr>
          <p:cNvSpPr txBox="1"/>
          <p:nvPr/>
        </p:nvSpPr>
        <p:spPr>
          <a:xfrm>
            <a:off x="407194" y="1593093"/>
            <a:ext cx="5550694" cy="1674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Manrope SemiBold" panose="020B0604020202020204" charset="0"/>
              </a:rPr>
              <a:t>Saves lives in golden hour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Manrope SemiBold" panose="020B0604020202020204" charset="0"/>
              </a:rPr>
              <a:t>Helps rural &amp; underserved communities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Manrope SemiBold" panose="020B0604020202020204" charset="0"/>
              </a:rPr>
              <a:t>Reduces panic-related mistakes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Manrope SemiBold" panose="020B0604020202020204" charset="0"/>
              </a:rPr>
              <a:t>Supports emergency responders with clear summaries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Manrope SemiBold" panose="020B0604020202020204" charset="0"/>
              </a:rPr>
              <a:t>Scalable nationwide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548</Words>
  <Application>Microsoft Office PowerPoint</Application>
  <PresentationFormat>On-screen Show (16:9)</PresentationFormat>
  <Paragraphs>96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Manrope</vt:lpstr>
      <vt:lpstr>Manrope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Meghna</dc:creator>
  <cp:lastModifiedBy>Meghna Subramani</cp:lastModifiedBy>
  <cp:revision>6</cp:revision>
  <dcterms:modified xsi:type="dcterms:W3CDTF">2026-02-14T17:00:35Z</dcterms:modified>
</cp:coreProperties>
</file>